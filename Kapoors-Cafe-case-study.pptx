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6" r:id="rId15"/>
    <p:sldId id="271" r:id="rId16"/>
    <p:sldId id="272" r:id="rId17"/>
    <p:sldId id="273" r:id="rId18"/>
    <p:sldId id="274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E8F-4671-BF8E-6BF6C93D5866}"/>
              </c:ext>
            </c:extLst>
          </c:dPt>
          <c:dPt>
            <c:idx val="1"/>
            <c:bubble3D val="0"/>
            <c:spPr>
              <a:solidFill>
                <a:srgbClr val="E8A3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E8F-4671-BF8E-6BF6C93D586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2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CA17B28D-7E02-4050-B6CA-595609B0BD1D}" type="PERCENTAGE">
                      <a:rPr lang="en-US">
                        <a:solidFill>
                          <a:schemeClr val="bg1"/>
                        </a:solidFill>
                      </a:rPr>
                      <a:pPr>
                        <a:defRPr sz="12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E8F-4671-BF8E-6BF6C93D586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E8F-4671-BF8E-6BF6C93D586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Offline (Dine-In)</c:v>
                </c:pt>
                <c:pt idx="1">
                  <c:v>Online (Delivery)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8F-4671-BF8E-6BF6C93D58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Monthly Revenue Range (₹ Lakhs)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Revenue (₹L)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3E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 (Festival)</c:v>
                </c:pt>
                <c:pt idx="4">
                  <c:v>Q1 Next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32</c:v>
                </c:pt>
                <c:pt idx="2">
                  <c:v>35</c:v>
                </c:pt>
                <c:pt idx="3">
                  <c:v>54</c:v>
                </c:pt>
                <c:pt idx="4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83-4D45-BFBD-66BE625BB7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Peak Revenue (₹L)</c:v>
                </c:pt>
              </c:strCache>
            </c:strRef>
          </c:tx>
          <c:spPr>
            <a:solidFill>
              <a:srgbClr val="E8A31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3E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 (Festival)</c:v>
                </c:pt>
                <c:pt idx="4">
                  <c:v>Q1 Next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37</c:v>
                </c:pt>
                <c:pt idx="2">
                  <c:v>40</c:v>
                </c:pt>
                <c:pt idx="3">
                  <c:v>55</c:v>
                </c:pt>
                <c:pt idx="4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83-4D45-BFBD-66BE625BB7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413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-731520"/>
            <a:ext cx="4572000" cy="4572000"/>
          </a:xfrm>
          <a:prstGeom prst="ellipse">
            <a:avLst/>
          </a:prstGeom>
          <a:solidFill>
            <a:srgbClr val="1B4F72">
              <a:alpha val="3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502920"/>
            <a:ext cx="2103120" cy="21031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5486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ENTREPRENEURSHIP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93268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8368" y="137160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9 Tables to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58368" y="199339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Franchises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658368" y="2743200"/>
            <a:ext cx="4572000" cy="36576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2852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Kapoors Cafe Journey — Built on Grit, Systems &amp; Smart Business Design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" y="3429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Arpit Kapoor  |  Founder &amp; CEO, Kapoors Cafe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8368" y="4133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Restaurant Industry  |  Franchise Business Model  |  M&amp;E Case Study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8368" y="4617720"/>
            <a:ext cx="2560320" cy="29260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" y="4617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Entrepreneurship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Background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Arpit Kapoor — from financial comfort to adversity, and back stronger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98448"/>
            <a:ext cx="2011680" cy="2011680"/>
          </a:xfrm>
          <a:prstGeom prst="ellipse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320040" y="3364992"/>
            <a:ext cx="2011680" cy="7040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364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Arpit Kapoor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36210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Kapoors Cafe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606040" y="1298448"/>
            <a:ext cx="6217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1298448"/>
            <a:ext cx="109728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9"/>
          <p:cNvSpPr/>
          <p:nvPr/>
        </p:nvSpPr>
        <p:spPr>
          <a:xfrm>
            <a:off x="2606040" y="1298448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Life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22192" y="13533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&amp; Raised in Delhi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22192" y="16459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up in a financially stable family. Strong values and entrepreneurial instinct instilled early.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606040" y="2212848"/>
            <a:ext cx="6217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606040" y="2212848"/>
            <a:ext cx="109728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4"/>
          <p:cNvSpPr/>
          <p:nvPr/>
        </p:nvSpPr>
        <p:spPr>
          <a:xfrm>
            <a:off x="2606040" y="2212848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822192" y="22677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Sherwood College, Dehradun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822192" y="25603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Prestigious residential school — built discipline, leadership, confidence and resilience.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606040" y="3127248"/>
            <a:ext cx="6217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606040" y="3127248"/>
            <a:ext cx="109728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19"/>
          <p:cNvSpPr/>
          <p:nvPr/>
        </p:nvSpPr>
        <p:spPr>
          <a:xfrm>
            <a:off x="2606040" y="3127248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822192" y="31821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College — Adapted Well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822192" y="34747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faced a financial setback. Shifted to a modest institution; learned to hustle without privilege.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606040" y="4041648"/>
            <a:ext cx="6217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606040" y="4041648"/>
            <a:ext cx="109728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4"/>
          <p:cNvSpPr/>
          <p:nvPr/>
        </p:nvSpPr>
        <p:spPr>
          <a:xfrm>
            <a:off x="2606040" y="4041648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822192" y="40965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Setback — Turning Point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822192" y="4389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business decline forced a mindset shift — from comfort-seeker to self-made problem-solver.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0040" y="4885008"/>
            <a:ext cx="8503920" cy="20116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48850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Adversity became the catalyst — not comfort, but challenge shaped the entrepreneurial mindset.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Entrepreneurial Start — Kapoors Cafe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 Lakh. 9 Tables. One Big Dream. HSR Layout, Bengaluru.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377440" cy="35478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6276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₹12L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20040" y="25237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Capital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1920240" cy="36576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30358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self-funded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call centre savings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4206240"/>
            <a:ext cx="2377440" cy="53035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42062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  |  HSR Layout</a:t>
            </a:r>
            <a:endParaRPr lang="en-US" sz="11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80360" y="1298448"/>
            <a:ext cx="3200400" cy="35478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880360" y="4498848"/>
            <a:ext cx="3200400" cy="347472"/>
          </a:xfrm>
          <a:prstGeom prst="rect">
            <a:avLst/>
          </a:prstGeom>
          <a:solidFill>
            <a:srgbClr val="0D1B2A">
              <a:alpha val="7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2880360" y="44988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Kapoors Cafe — Actual Outlet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91072" y="1298448"/>
            <a:ext cx="2532888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91072" y="1298448"/>
            <a:ext cx="2532888" cy="36576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13716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00800" y="15910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Kapoors Cafe — 'Chak De Phattey'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91072" y="1956816"/>
            <a:ext cx="2532888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91072" y="1956816"/>
            <a:ext cx="2532888" cy="36576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0" y="20299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400800" y="224942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dhaba-style dining with modern ambiance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91072" y="2615184"/>
            <a:ext cx="2532888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91072" y="2615184"/>
            <a:ext cx="2532888" cy="36576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0" y="26883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400800" y="290779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Indian comfort food — parathas, dal, kulcha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291072" y="3273552"/>
            <a:ext cx="2532888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291072" y="3273552"/>
            <a:ext cx="2532888" cy="36576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0" name="Text 27"/>
          <p:cNvSpPr/>
          <p:nvPr/>
        </p:nvSpPr>
        <p:spPr>
          <a:xfrm>
            <a:off x="6400800" y="33467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400800" y="35661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local loyalty first, then think scale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291072" y="3931920"/>
            <a:ext cx="2532888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91072" y="3931920"/>
            <a:ext cx="2532888" cy="36576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4" name="Text 31"/>
          <p:cNvSpPr/>
          <p:nvPr/>
        </p:nvSpPr>
        <p:spPr>
          <a:xfrm>
            <a:off x="6400800" y="40050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400800" y="422452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break-even within first operating year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Journey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expansion — from a single outlet to a scalable franchise network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50008" y="2240280"/>
            <a:ext cx="146304" cy="4572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98448"/>
            <a:ext cx="2029968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29844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202996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90195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Outlet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286000"/>
            <a:ext cx="18470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 Layout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₹12L invested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26280" y="2240280"/>
            <a:ext cx="146304" cy="4572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13" name="Shape 11"/>
          <p:cNvSpPr/>
          <p:nvPr/>
        </p:nvSpPr>
        <p:spPr>
          <a:xfrm>
            <a:off x="2496312" y="1298448"/>
            <a:ext cx="2029968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/>
          <p:nvPr/>
        </p:nvSpPr>
        <p:spPr>
          <a:xfrm>
            <a:off x="2496312" y="129844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2–3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96312" y="1828800"/>
            <a:ext cx="202996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87752" y="190195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Outlets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87752" y="2286000"/>
            <a:ext cx="18470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concept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Reinvested profits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built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02552" y="2240280"/>
            <a:ext cx="146304" cy="4572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19" name="Shape 17"/>
          <p:cNvSpPr/>
          <p:nvPr/>
        </p:nvSpPr>
        <p:spPr>
          <a:xfrm>
            <a:off x="4672584" y="1298448"/>
            <a:ext cx="2029968" cy="50292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20" name="Text 18"/>
          <p:cNvSpPr/>
          <p:nvPr/>
        </p:nvSpPr>
        <p:spPr>
          <a:xfrm>
            <a:off x="4672584" y="129844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4–5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72584" y="1828800"/>
            <a:ext cx="202996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64024" y="190195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Model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64024" y="2286000"/>
            <a:ext cx="18470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Tier 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partners 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codified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48856" y="1298448"/>
            <a:ext cx="2029968" cy="50292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5" name="Text 23"/>
          <p:cNvSpPr/>
          <p:nvPr/>
        </p:nvSpPr>
        <p:spPr>
          <a:xfrm>
            <a:off x="6848856" y="129844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6+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48856" y="1828800"/>
            <a:ext cx="2029968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40296" y="190195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Franchises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0296" y="2286000"/>
            <a:ext cx="18470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&amp; B network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500–600 employees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34015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Scaling Decisions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20040" y="3822192"/>
            <a:ext cx="4187952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822192"/>
            <a:ext cx="64008" cy="50292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" y="385876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Franchising over owning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" y="40873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Capital-light expansion; partners take on local ops risk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822192"/>
            <a:ext cx="4187952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822192"/>
            <a:ext cx="64008" cy="50292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6" name="Text 34"/>
          <p:cNvSpPr/>
          <p:nvPr/>
        </p:nvSpPr>
        <p:spPr>
          <a:xfrm>
            <a:off x="4828032" y="385876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family in franchises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28032" y="40873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Meritocracy preserved — partners selected on capability, not relations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389120"/>
            <a:ext cx="4187952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4389120"/>
            <a:ext cx="64008" cy="50292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" y="442569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SOP-first culture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4632" y="465429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Replicability ensures quality consistency across all outlets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4389120"/>
            <a:ext cx="4187952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4389120"/>
            <a:ext cx="64008" cy="50292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4" name="Text 42"/>
          <p:cNvSpPr/>
          <p:nvPr/>
        </p:nvSpPr>
        <p:spPr>
          <a:xfrm>
            <a:off x="4828032" y="442569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Reinvest profits early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28032" y="465429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of early profit went back into systems and brand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Franchise-based, capital-light, quality-controlled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 Pillars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4008" cy="7132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7465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Franchise-Based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2082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invest capital; brand provides systems, training &amp; supply chain support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496312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496312"/>
            <a:ext cx="64008" cy="7132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511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Revenue Channel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82549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offline dine-in + 30% online delivery — balanced, resilient revenue mix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300984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300984"/>
            <a:ext cx="64008" cy="71323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558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Procurement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63016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sourced centrally — cost control &amp; quality uniformity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4105656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4105656"/>
            <a:ext cx="64008" cy="71323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1605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Licensing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43484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Franchisee pays royalty/fee; brand retains IP and quality authority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12984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Channel Split</a:t>
            </a:r>
            <a:endParaRPr lang="en-US" sz="1400" dirty="0"/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p14:modId xmlns:p14="http://schemas.microsoft.com/office/powerpoint/2010/main" val="989273323"/>
              </p:ext>
            </p:extLst>
          </p:nvPr>
        </p:nvGraphicFramePr>
        <p:xfrm>
          <a:off x="4754880" y="1664208"/>
          <a:ext cx="40233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4754880" y="4133088"/>
            <a:ext cx="402336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3"/>
          <p:cNvSpPr/>
          <p:nvPr/>
        </p:nvSpPr>
        <p:spPr>
          <a:xfrm>
            <a:off x="4892040" y="4169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92040" y="44256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for franchisees. Proven brand. Plug-and-play operations. Strong ROI within 2–3 years.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Investment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structure designed for diverse investor profiles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023360" cy="3584448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4023360" cy="43891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29844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 — STANDARD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₹90L – ₹1 Cr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Range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3383280" cy="36576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4436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 city / smaller market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footfall zone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outlet footprint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training included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support from Day 1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first-time investors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1298448"/>
            <a:ext cx="4023360" cy="3584448"/>
          </a:xfrm>
          <a:prstGeom prst="rect">
            <a:avLst/>
          </a:prstGeom>
          <a:solidFill>
            <a:srgbClr val="E8A317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298448"/>
            <a:ext cx="402336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29844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— PREMIUM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8470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 Cr – ₹3 Cr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937760" y="2468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Range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83480" y="2834640"/>
            <a:ext cx="3383280" cy="3657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944368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/ Tier A city market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footfall premium locations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outlet with full setup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fit-out + equipment included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relationship manager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revenue ceiling — ₹50–55L/month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tiers include: brand license, SOP manual, supplier tie-ups, staff training, and ongoing operational support.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monthly revenue with significant peak upside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011680" cy="987552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533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₹30–35L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8653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Revenue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96312" y="1298448"/>
            <a:ext cx="2011680" cy="987552"/>
          </a:xfrm>
          <a:prstGeom prst="rect">
            <a:avLst/>
          </a:prstGeom>
          <a:solidFill>
            <a:srgbClr val="E8A317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3533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₹50–55L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96312" y="18653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Monthly Revenue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72584" y="1298448"/>
            <a:ext cx="2011680" cy="987552"/>
          </a:xfrm>
          <a:prstGeom prst="rect">
            <a:avLst/>
          </a:prstGeom>
          <a:solidFill>
            <a:srgbClr val="117A6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13533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72584" y="18653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Franchise Outlets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48856" y="1298448"/>
            <a:ext cx="2011680" cy="987552"/>
          </a:xfrm>
          <a:prstGeom prst="rect">
            <a:avLst/>
          </a:prstGeom>
          <a:solidFill>
            <a:srgbClr val="1B4F7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48856" y="13533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48856" y="18653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Revenue Share</a:t>
            </a:r>
            <a:endParaRPr lang="en-US" sz="95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320040" y="2395728"/>
          <a:ext cx="5120640" cy="2542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87568" y="2395728"/>
            <a:ext cx="3136392" cy="18288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687568" y="3886200"/>
            <a:ext cx="3136392" cy="292608"/>
          </a:xfrm>
          <a:prstGeom prst="rect">
            <a:avLst/>
          </a:prstGeom>
          <a:solidFill>
            <a:srgbClr val="0D1B2A">
              <a:alpha val="8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5687568" y="388620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Kapoors Cafe — Signature Dishes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687568" y="4251960"/>
            <a:ext cx="3136392" cy="2560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5806440" y="42702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Weekends: 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656832" y="42702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~55% of weekly revenue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687568" y="4544568"/>
            <a:ext cx="3136392" cy="2560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5806440" y="45628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Growth: 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656832" y="45628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delivery mix, growing 8–10% YoY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687568" y="4837176"/>
            <a:ext cx="3136392" cy="2560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5806440" y="48554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Outlet: 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656832" y="48554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₹30–35L/month at steady state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&amp; Unit Economics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numbers work — per outlet, per month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Structure (Per Outlet — Avg. ₹30–35L Revenue)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64208"/>
          <a:ext cx="5120640" cy="34747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₹ (Lakh)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Materials / Food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28–32%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8.4–9.6L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&amp; Labour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5.4–6.6L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 &amp; Utilities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3.6–4.5L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Royalty to Brand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1.2–1.8L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&amp; Promotions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0.9–1.5L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Packaging &amp; Delivery Costs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0.9–1.2L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 / Contingency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0.6–0.9L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~24–26L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5–8L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760720" y="12984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at a Glance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0" y="1719072"/>
            <a:ext cx="30632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5760720" y="1719072"/>
            <a:ext cx="3063240" cy="365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1" name="Text 8"/>
          <p:cNvSpPr/>
          <p:nvPr/>
        </p:nvSpPr>
        <p:spPr>
          <a:xfrm>
            <a:off x="5897880" y="181051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Period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897880" y="202996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months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60720" y="2377440"/>
            <a:ext cx="30632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2377440"/>
            <a:ext cx="3063240" cy="36576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5" name="Text 12"/>
          <p:cNvSpPr/>
          <p:nvPr/>
        </p:nvSpPr>
        <p:spPr>
          <a:xfrm>
            <a:off x="5897880" y="24688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Net Profit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897880" y="268833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₹5–8 Lakh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760720" y="3035808"/>
            <a:ext cx="30632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3035808"/>
            <a:ext cx="3063240" cy="36576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19" name="Text 16"/>
          <p:cNvSpPr/>
          <p:nvPr/>
        </p:nvSpPr>
        <p:spPr>
          <a:xfrm>
            <a:off x="5897880" y="312724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ROI (Tier B)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897880" y="334670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~18–22%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760720" y="3694176"/>
            <a:ext cx="30632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760720" y="3694176"/>
            <a:ext cx="3063240" cy="3657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0"/>
          <p:cNvSpPr/>
          <p:nvPr/>
        </p:nvSpPr>
        <p:spPr>
          <a:xfrm>
            <a:off x="5897880" y="3785616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ROI (Tier A)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897880" y="400507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~20–26%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760720" y="4352544"/>
            <a:ext cx="30632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760720" y="4352544"/>
            <a:ext cx="3063240" cy="36576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7" name="Text 24"/>
          <p:cNvSpPr/>
          <p:nvPr/>
        </p:nvSpPr>
        <p:spPr>
          <a:xfrm>
            <a:off x="5897880" y="444398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897880" y="466344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~4–5 years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Customer Flow — Kapoors Cafe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offline dominance with a fast-growing 30% digital wing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63045" y="1031514"/>
            <a:ext cx="2502189" cy="141907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2487168"/>
            <a:ext cx="8503920" cy="292608"/>
          </a:xfrm>
          <a:prstGeom prst="rect">
            <a:avLst/>
          </a:prstGeom>
          <a:solidFill>
            <a:srgbClr val="0D1B2A">
              <a:alpha val="8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2487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Kapoors Cafe — A packed house — the offline experience at its best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2852928"/>
            <a:ext cx="4023360" cy="2084832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2852928"/>
            <a:ext cx="4023360" cy="38404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28529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70%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273552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turnover: 3–4x weekdays, 5x weekends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Walk-ins + reservations via phone &amp; in-person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events, birthdays, corporate lunches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 drives word-of-mouth growth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value: ₹400–₹600 per person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29184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turnover: 3–4x weekdays, 5x weekends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Walk-ins + reservations via phone &amp; in-person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events, birthdays, corporate lunches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 drives word-of-mouth growth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value: ₹400–₹600 per person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00600" y="2852928"/>
            <a:ext cx="4023360" cy="20848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00600" y="2852928"/>
            <a:ext cx="4023360" cy="38404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28529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— 30%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937760" y="329184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via Swiggy, Zomato &amp; own channel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at 8–10% YoY — strong upward trend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order: ₹300–₹450 per order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hours: 12–2 PM and 7–10 PM daily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grow online share to 40% by Year 3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C43801-72C1-3309-E860-075E69B49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32293"/>
            <a:ext cx="1990579" cy="13381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4610C43-CAA2-826D-C982-D89DDBF592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9333" y1="52000" x2="36889" y2="42222"/>
                        <a14:foregroundMark x1="56000" y1="41333" x2="44889" y2="38667"/>
                        <a14:foregroundMark x1="62222" y1="46667" x2="51556" y2="40889"/>
                        <a14:foregroundMark x1="50667" y1="42667" x2="50667" y2="42667"/>
                        <a14:foregroundMark x1="68889" y1="80444" x2="20000" y2="78222"/>
                        <a14:foregroundMark x1="65333" y1="77778" x2="40444" y2="77778"/>
                        <a14:foregroundMark x1="76889" y1="79111" x2="59111" y2="73333"/>
                        <a14:foregroundMark x1="83556" y1="72444" x2="71111" y2="68889"/>
                        <a14:foregroundMark x1="60444" y1="86667" x2="33333" y2="86667"/>
                        <a14:foregroundMark x1="13333" y1="76444" x2="17778" y2="77333"/>
                        <a14:foregroundMark x1="24000" y1="78222" x2="57333" y2="77333"/>
                        <a14:foregroundMark x1="57333" y1="77333" x2="57333" y2="77333"/>
                        <a14:foregroundMark x1="49333" y1="80000" x2="23111" y2="80444"/>
                        <a14:foregroundMark x1="48889" y1="76000" x2="78222" y2="73778"/>
                        <a14:foregroundMark x1="55556" y1="72889" x2="19556" y2="74667"/>
                        <a14:foregroundMark x1="57333" y1="85778" x2="64000" y2="862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5651" y="1035327"/>
            <a:ext cx="1501177" cy="15011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Culture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engine behind the business — built on trust, not transactions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005663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500–600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14750" y="14538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across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outlets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1746" y="1929384"/>
            <a:ext cx="2527993" cy="304738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11884" y="1298448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&amp; People Philosophy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11884" y="1691640"/>
            <a:ext cx="5468112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11884" y="1691640"/>
            <a:ext cx="64008" cy="5669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2"/>
          <p:cNvSpPr/>
          <p:nvPr/>
        </p:nvSpPr>
        <p:spPr>
          <a:xfrm>
            <a:off x="3794764" y="1746504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= Family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794764" y="199339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retention focus; staff welfare treated as business investment, not cost.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11884" y="2350008"/>
            <a:ext cx="5468112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11884" y="2350008"/>
            <a:ext cx="64008" cy="56692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9" name="Text 16"/>
          <p:cNvSpPr/>
          <p:nvPr/>
        </p:nvSpPr>
        <p:spPr>
          <a:xfrm>
            <a:off x="3794764" y="240487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Partners = Friends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794764" y="265176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built on mutual respect, shared success &amp; transparent communication.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11884" y="3008376"/>
            <a:ext cx="5468112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11884" y="3008376"/>
            <a:ext cx="64008" cy="566928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23" name="Text 20"/>
          <p:cNvSpPr/>
          <p:nvPr/>
        </p:nvSpPr>
        <p:spPr>
          <a:xfrm>
            <a:off x="3794764" y="306324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Meritocracy First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794764" y="331012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&amp; opportunities based on performance — not seniority or connections.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611884" y="3666744"/>
            <a:ext cx="5468112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11884" y="3666744"/>
            <a:ext cx="64008" cy="5669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7" name="Text 24"/>
          <p:cNvSpPr/>
          <p:nvPr/>
        </p:nvSpPr>
        <p:spPr>
          <a:xfrm>
            <a:off x="3794764" y="3721608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Culture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3794764" y="3968496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upskilling in SOPs, food safety, hospitality &amp; brand values.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611884" y="4325112"/>
            <a:ext cx="5468112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611884" y="4325112"/>
            <a:ext cx="64008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1" name="Text 28"/>
          <p:cNvSpPr/>
          <p:nvPr/>
        </p:nvSpPr>
        <p:spPr>
          <a:xfrm>
            <a:off x="3794764" y="4379976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Attrition Goal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3794764" y="4626864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Retention-focused policies reduce hiring cost and preserve institutional knowledge.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at the top — scalable at the edges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298448"/>
            <a:ext cx="2743200" cy="621792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298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ARPIT KAPOOR — FOUNDER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0" y="1627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  |  Brand Owner  |  CEO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44568" y="1938528"/>
            <a:ext cx="54864" cy="36576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304288"/>
            <a:ext cx="7589520" cy="4572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04288"/>
            <a:ext cx="2286000" cy="658368"/>
          </a:xfrm>
          <a:prstGeom prst="rect">
            <a:avLst/>
          </a:prstGeom>
          <a:solidFill>
            <a:srgbClr val="1B4F7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3408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151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| Strategic Guidance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83280" y="2304288"/>
            <a:ext cx="2286000" cy="658368"/>
          </a:xfrm>
          <a:prstGeom prst="rect">
            <a:avLst/>
          </a:prstGeom>
          <a:solidFill>
            <a:srgbClr val="1B4F7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23408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6151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Partner | Execution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304288"/>
            <a:ext cx="2286000" cy="658368"/>
          </a:xfrm>
          <a:prstGeom prst="rect">
            <a:avLst/>
          </a:prstGeom>
          <a:solidFill>
            <a:srgbClr val="1B4F7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23408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MGMT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6151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Marketing, Ops Heads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44568" y="2980944"/>
            <a:ext cx="54864" cy="292608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291840"/>
            <a:ext cx="8503920" cy="7315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4015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PARTNERS  (25+ Outlets)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20040" y="46451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with Branch Manager at </a:t>
            </a:r>
            <a:r>
              <a:rPr lang="en-US" sz="9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Kapors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Cafe outlet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063240" y="3785616"/>
            <a:ext cx="3291840" cy="11155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4"/>
          <p:cNvSpPr/>
          <p:nvPr/>
        </p:nvSpPr>
        <p:spPr>
          <a:xfrm>
            <a:off x="3200400" y="38770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NO family member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 franchise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200400" y="437083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Merit-only selection ensures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objectivity, trust &amp; brand integrity.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&amp; Legal Framework (India)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outlet must clear this compliance checklist before operations begin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1572768" cy="658368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5331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92808" y="1645920"/>
            <a:ext cx="146304" cy="54864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2121408"/>
            <a:ext cx="1572768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" y="2212848"/>
            <a:ext cx="1444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&amp;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Authority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39112" y="1353312"/>
            <a:ext cx="1572768" cy="658368"/>
          </a:xfrm>
          <a:prstGeom prst="rect">
            <a:avLst/>
          </a:prstGeom>
          <a:solidFill>
            <a:srgbClr val="1B4F7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39112" y="135331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1645920"/>
            <a:ext cx="146304" cy="54864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9112" y="2121408"/>
            <a:ext cx="1572768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12264" y="2212848"/>
            <a:ext cx="1444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if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&gt; ₹20L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(restaurants: ₹40L)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58184" y="1353312"/>
            <a:ext cx="1572768" cy="658368"/>
          </a:xfrm>
          <a:prstGeom prst="rect">
            <a:avLst/>
          </a:prstGeom>
          <a:solidFill>
            <a:srgbClr val="117A65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58184" y="135331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30952" y="1645920"/>
            <a:ext cx="146304" cy="54864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9" name="Shape 17"/>
          <p:cNvSpPr/>
          <p:nvPr/>
        </p:nvSpPr>
        <p:spPr>
          <a:xfrm>
            <a:off x="3758184" y="2121408"/>
            <a:ext cx="1572768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31336" y="2212848"/>
            <a:ext cx="1444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 local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body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(annual renewal)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77256" y="1353312"/>
            <a:ext cx="1572768" cy="658368"/>
          </a:xfrm>
          <a:prstGeom prst="rect">
            <a:avLst/>
          </a:prstGeom>
          <a:solidFill>
            <a:srgbClr val="1E8449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77256" y="135331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Estab. Act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50024" y="1645920"/>
            <a:ext cx="146304" cy="54864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4" name="Shape 22"/>
          <p:cNvSpPr/>
          <p:nvPr/>
        </p:nvSpPr>
        <p:spPr>
          <a:xfrm>
            <a:off x="5477256" y="2121408"/>
            <a:ext cx="1572768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50408" y="2212848"/>
            <a:ext cx="1444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State-specific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for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premises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96328" y="1353312"/>
            <a:ext cx="1572768" cy="658368"/>
          </a:xfrm>
          <a:prstGeom prst="rect">
            <a:avLst/>
          </a:prstGeom>
          <a:solidFill>
            <a:srgbClr val="C0392B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96328" y="135331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 Health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96328" y="2121408"/>
            <a:ext cx="1572768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69480" y="2212848"/>
            <a:ext cx="1444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from Fire Dept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Health/Sanitation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mandatory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363931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Compliance Requirements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0040" y="4005072"/>
            <a:ext cx="4187952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4005072"/>
            <a:ext cx="64008" cy="45720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" y="4041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Renewal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" y="424281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— penalty of ₹5L+ for lapse; crucial for franchise credibility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4005072"/>
            <a:ext cx="4187952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4005072"/>
            <a:ext cx="64008" cy="45720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7" name="Text 35"/>
          <p:cNvSpPr/>
          <p:nvPr/>
        </p:nvSpPr>
        <p:spPr>
          <a:xfrm>
            <a:off x="4828032" y="4041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 House License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28032" y="424281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in metro cities like Delhi, Mumbai — separate from trade license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535424"/>
            <a:ext cx="4187952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" y="4535424"/>
            <a:ext cx="64008" cy="45720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Liquor License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4632" y="477316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needed only for outlets serving alcohol (Tier A outlets)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4535424"/>
            <a:ext cx="4187952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4535424"/>
            <a:ext cx="64008" cy="45720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5" name="Text 43"/>
          <p:cNvSpPr/>
          <p:nvPr/>
        </p:nvSpPr>
        <p:spPr>
          <a:xfrm>
            <a:off x="4828032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/ Trademark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28032" y="477316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name, logo &amp; menu IP registered under Trade Marks Act, 1999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Taxation Benefits for This Business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tax framework works in the franchise model's favour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425196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081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GST → Competitive Pricing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under 5% GST (no ITC) keeps pricing competitive vs hotel-restaurant rivals at 18%. Lower tax pass-through = better value perception.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98448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98448"/>
            <a:ext cx="4251960" cy="54864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081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GST Compliance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71907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Monthly/quarterly GSTR-1 &amp; 3B filings. Composition scheme option for smaller outlets (turnover &lt; ₹1.5 Cr) simplifies compliance further.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6032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60320"/>
            <a:ext cx="4251960" cy="54864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700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Model Spreads Tax Liability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98094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franchisee is an independent legal entity — separate GST registration, separate P&amp;L. Brand company carries only royalty/fee income tax.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560320"/>
            <a:ext cx="4251960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6700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Registration Benefits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98094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priority lending, collateral-free loans under CGTMSE, subsidized electricity &amp; protection against delayed payments.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822192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22192"/>
            <a:ext cx="4251960" cy="54864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319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Tax Regime Advantage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24281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franchise partners with lower deductions, New Regime offers lower effective rates — improves post-tax returns on franchise investment.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822192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822192"/>
            <a:ext cx="4251960" cy="54864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39319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on Franchise Fees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424281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 income from franchisees subject to TDS under Sec 194J (10%). Proper structuring ensures clean, audit-proof income recognition.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1">
            <a:extLst>
              <a:ext uri="{FF2B5EF4-FFF2-40B4-BE49-F238E27FC236}">
                <a16:creationId xmlns:a16="http://schemas.microsoft.com/office/drawing/2014/main" id="{9AD56987-DBC2-C72C-BFFC-6D5A5D09F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007742"/>
              </p:ext>
            </p:extLst>
          </p:nvPr>
        </p:nvGraphicFramePr>
        <p:xfrm>
          <a:off x="258494" y="929873"/>
          <a:ext cx="8627012" cy="3592890"/>
        </p:xfrm>
        <a:graphic>
          <a:graphicData uri="http://schemas.openxmlformats.org/drawingml/2006/table">
            <a:tbl>
              <a:tblPr/>
              <a:tblGrid>
                <a:gridCol w="2319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2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5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Slab /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REGIME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REGIME (Default from FY 2024–25)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7A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₹3 Lakh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₹3L – ₹6L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₹6L – ₹9L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₹9L – ₹12L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₹12L – ₹15L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₹15L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2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Deduction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2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HRA / 80C / 80D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2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deductions (HRA, investments)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Simpler filing, lower middle-slab rates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D47432-1015-8D01-DC58-2A35EEF9D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94" y="364043"/>
            <a:ext cx="8614395" cy="3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07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Policies &amp; Support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schemes that empower restaurant &amp; franchise entrepreneurs in India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724912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98448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India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92224"/>
            <a:ext cx="2724912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84708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 — Dept. of Promotion of Industry &amp; Internal Trade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231136"/>
            <a:ext cx="2542032" cy="3657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30428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578608"/>
            <a:ext cx="25420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income tax holiday (Sec 80-IAC)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Self-certification for 9 labour laws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IP filing at reduced fees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₹10,000 Cr Fund of Funds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4005072"/>
            <a:ext cx="2542032" cy="36576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407822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27939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if business registered as Startup — useful in early years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27832" y="1298448"/>
            <a:ext cx="2724912" cy="47548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7" name="Text 15"/>
          <p:cNvSpPr/>
          <p:nvPr/>
        </p:nvSpPr>
        <p:spPr>
          <a:xfrm>
            <a:off x="3227832" y="1298448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Scheme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27832" y="1792224"/>
            <a:ext cx="2724912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19272" y="184708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Micro, Small &amp; Medium Enterprises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19272" y="2231136"/>
            <a:ext cx="2542032" cy="365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1" name="Text 19"/>
          <p:cNvSpPr/>
          <p:nvPr/>
        </p:nvSpPr>
        <p:spPr>
          <a:xfrm>
            <a:off x="3319272" y="230428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9272" y="2578608"/>
            <a:ext cx="25420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Collateral-free loans under CGTMSE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subvention on term loans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Udyam Registration for subsidies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sector lending access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19272" y="4005072"/>
            <a:ext cx="2542032" cy="36576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4" name="Text 22"/>
          <p:cNvSpPr/>
          <p:nvPr/>
        </p:nvSpPr>
        <p:spPr>
          <a:xfrm>
            <a:off x="3319272" y="407822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19272" y="427939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franchise outlets qualify — turnover &lt; ₹250 Cr threshold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35624" y="1298448"/>
            <a:ext cx="2724912" cy="475488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27" name="Text 25"/>
          <p:cNvSpPr/>
          <p:nvPr/>
        </p:nvSpPr>
        <p:spPr>
          <a:xfrm>
            <a:off x="6135624" y="1298448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Mudra Yojana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35624" y="1792224"/>
            <a:ext cx="2724912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27064" y="184708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Finance — via Scheduled Commercial Banks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27064" y="2231136"/>
            <a:ext cx="2542032" cy="36576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1" name="Text 29"/>
          <p:cNvSpPr/>
          <p:nvPr/>
        </p:nvSpPr>
        <p:spPr>
          <a:xfrm>
            <a:off x="6227064" y="230428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27064" y="2578608"/>
            <a:ext cx="25420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Shishu: up to ₹50,000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Kishore: ₹50,000 – ₹5 Lakh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Tarun: ₹5 Lakh – ₹10 Lakh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collateral for Shishu &amp; Kishore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27064" y="4005072"/>
            <a:ext cx="2542032" cy="36576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34" name="Text 32"/>
          <p:cNvSpPr/>
          <p:nvPr/>
        </p:nvSpPr>
        <p:spPr>
          <a:xfrm>
            <a:off x="6227064" y="407822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27064" y="4279392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small franchise partners entering the business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 — the hard truths behind a franchise restaurant business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2519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502920" cy="11155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6459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67912" y="1353312"/>
            <a:ext cx="59436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867912" y="13533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41832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Initial Investment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41832" y="164592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₹90L–₹3 Cr per outlet locks up capital; wrong location choice can mean prolonged break-even.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298448"/>
            <a:ext cx="42519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98448"/>
            <a:ext cx="502920" cy="11155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6459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02752" y="1353312"/>
            <a:ext cx="59436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8302752" y="13533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76672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Complexity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76672" y="164592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licenses required before operations; delays in FSSAI, fire NOC or municipal approvals can push timelines.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532888"/>
            <a:ext cx="42519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532888"/>
            <a:ext cx="502920" cy="111556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8803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67912" y="2587752"/>
            <a:ext cx="594360" cy="25603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4" name="Text 22"/>
          <p:cNvSpPr/>
          <p:nvPr/>
        </p:nvSpPr>
        <p:spPr>
          <a:xfrm>
            <a:off x="3867912" y="25877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41832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Compliance Burden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41832" y="288036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filings, reconciliation of GSTR-1 &amp; 3B, TDS management — requires dedicated finance resources.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532888"/>
            <a:ext cx="42519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532888"/>
            <a:ext cx="502920" cy="11155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8803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02752" y="2587752"/>
            <a:ext cx="59436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25877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76672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Consistency at Scale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76672" y="288036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food quality &amp; service standards across 25+ outlets with different partners is the #1 challenge.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767328"/>
            <a:ext cx="42519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767328"/>
            <a:ext cx="502920" cy="111556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41148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67912" y="3822192"/>
            <a:ext cx="594360" cy="25603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8" name="Text 36"/>
          <p:cNvSpPr/>
          <p:nvPr/>
        </p:nvSpPr>
        <p:spPr>
          <a:xfrm>
            <a:off x="3867912" y="38221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41832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Competition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41832" y="411480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markets saturated with QSR chains, cloud kitchens &amp; well-funded startups. Differentiation is critical.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767328"/>
            <a:ext cx="42519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767328"/>
            <a:ext cx="502920" cy="111556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41148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02752" y="3822192"/>
            <a:ext cx="594360" cy="25603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5" name="Text 43"/>
          <p:cNvSpPr/>
          <p:nvPr/>
        </p:nvSpPr>
        <p:spPr>
          <a:xfrm>
            <a:off x="8302752" y="38221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376672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Retention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376672" y="411480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sector has 35–40% annual attrition. Skilled chefs &amp; managers exit to competitors or start own ventures.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business mitigates its biggest threats — proactively and systematically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4251960" cy="3657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" y="1389888"/>
            <a:ext cx="1371600" cy="2377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3898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Quality Degradation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92808" y="13898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SOP Standardization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1700784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SOPs for every outlet — recipe portions, plating, cleaning &amp; staff conduct. Non-negotiable, audited quarterly.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98448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98448"/>
            <a:ext cx="4251960" cy="365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Shape 12"/>
          <p:cNvSpPr/>
          <p:nvPr/>
        </p:nvSpPr>
        <p:spPr>
          <a:xfrm>
            <a:off x="4864608" y="1389888"/>
            <a:ext cx="1371600" cy="2377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13898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Partner Mismanagement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27648" y="13898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Franchise Audits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64608" y="1700784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and scheduled audits by central quality team. Mystery shoppers deployed monthly. Failing 2 audits = franchise review.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56032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560320"/>
            <a:ext cx="4251960" cy="36576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768" y="2651760"/>
            <a:ext cx="1371600" cy="2377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" y="26517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Brand Dilution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892808" y="2651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Brand Control Framework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9768" y="2962656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marketing, social media &amp; menu changes approved by HQ. Franchisees cannot independently rebrand, discount or alter core offerings.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56032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560320"/>
            <a:ext cx="4251960" cy="36576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6" name="Shape 24"/>
          <p:cNvSpPr/>
          <p:nvPr/>
        </p:nvSpPr>
        <p:spPr>
          <a:xfrm>
            <a:off x="4864608" y="2651760"/>
            <a:ext cx="1371600" cy="2377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26517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Cash Flow Issues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27648" y="2651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Franchise Fee Structure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64608" y="2962656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franchise fee + royalty model ensures brand entity has predictable cash inflows independent of outlet performance swings.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822192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822192"/>
            <a:ext cx="4251960" cy="36576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2" name="Shape 30"/>
          <p:cNvSpPr/>
          <p:nvPr/>
        </p:nvSpPr>
        <p:spPr>
          <a:xfrm>
            <a:off x="429768" y="3913632"/>
            <a:ext cx="1371600" cy="2377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33" name="Text 31"/>
          <p:cNvSpPr/>
          <p:nvPr/>
        </p:nvSpPr>
        <p:spPr>
          <a:xfrm>
            <a:off x="429768" y="39136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Regulatory Non-Compliance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892808" y="39136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Compliance Tracker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29768" y="4224528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license renewal calendar. Legal team flags due dates 60 days in advance. Non-renewal triggers brand support intervention.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822192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822192"/>
            <a:ext cx="4251960" cy="36576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38" name="Shape 36"/>
          <p:cNvSpPr/>
          <p:nvPr/>
        </p:nvSpPr>
        <p:spPr>
          <a:xfrm>
            <a:off x="4864608" y="3913632"/>
            <a:ext cx="1371600" cy="2377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39" name="Text 37"/>
          <p:cNvSpPr/>
          <p:nvPr/>
        </p:nvSpPr>
        <p:spPr>
          <a:xfrm>
            <a:off x="4864608" y="39136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Key Person Dependency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27648" y="39136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Succession Planning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64608" y="4224528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management trained to operate without founder in day-to-day decisions. Documented brand playbook enables decentralized leadership.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FUTURE GROWTH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102412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goal is not just profit — it is to employ 5,000 families."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2212848"/>
            <a:ext cx="2724912" cy="74980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212848"/>
            <a:ext cx="2724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20040" y="2999232"/>
            <a:ext cx="2724912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3054096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474720"/>
            <a:ext cx="25420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25 to 50+ outlets in 3 years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Tier 2 &amp; 3 cities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Capital-light franchising model continues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7832" y="2212848"/>
            <a:ext cx="2724912" cy="74980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2" name="Text 10"/>
          <p:cNvSpPr/>
          <p:nvPr/>
        </p:nvSpPr>
        <p:spPr>
          <a:xfrm>
            <a:off x="3227832" y="2212848"/>
            <a:ext cx="2724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227832" y="2999232"/>
            <a:ext cx="2724912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19272" y="3054096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9272" y="3474720"/>
            <a:ext cx="25420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online from 30% to 40% of revenue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delivery app launch planned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kitchen model for delivery-only markets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35624" y="2212848"/>
            <a:ext cx="2724912" cy="749808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17" name="Text 15"/>
          <p:cNvSpPr/>
          <p:nvPr/>
        </p:nvSpPr>
        <p:spPr>
          <a:xfrm>
            <a:off x="6135624" y="2212848"/>
            <a:ext cx="2724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5000+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6135624" y="2999232"/>
            <a:ext cx="2724912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27064" y="3054096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27064" y="3474720"/>
            <a:ext cx="25420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+ indirect jobs across franchise network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employment drive in partner outlets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development centre for F&amp;B workforce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1B4F72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474720"/>
            <a:ext cx="2743200" cy="2743200"/>
          </a:xfrm>
          <a:prstGeom prst="ellipse">
            <a:avLst/>
          </a:prstGeom>
          <a:solidFill>
            <a:srgbClr val="E8A317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8404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777240"/>
            <a:ext cx="6858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for Scalable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Entrepreneurship in India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901952"/>
            <a:ext cx="4572000" cy="4572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029968"/>
            <a:ext cx="77724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built on grit, savings &amp; execution — not privilege or luck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Kapoors Cafe: proven brand built from ₹12L to 25+ franchise network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People-first culture — employees as family, partners as friends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compliance: 5% GST, MSME benefits &amp; government schemes leveraged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extends beyond revenue — social impact through employment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&gt; Ideas: the systems, SOPs &amp; audits are what make it scalable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4736592"/>
            <a:ext cx="7315200" cy="2286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4736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Entrepreneurship  |  Kapoors Cafe Case Study  |  Mr. Arpit Kapoor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2251</Words>
  <Application>Microsoft Office PowerPoint</Application>
  <PresentationFormat>On-screen Show (16:9)</PresentationFormat>
  <Paragraphs>429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Madhav Karan Aggarwal</cp:lastModifiedBy>
  <cp:revision>3</cp:revision>
  <dcterms:created xsi:type="dcterms:W3CDTF">2026-04-20T21:05:45Z</dcterms:created>
  <dcterms:modified xsi:type="dcterms:W3CDTF">2026-05-06T10:32:50Z</dcterms:modified>
</cp:coreProperties>
</file>